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media/image2.jpeg" ContentType="image/jpeg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ECDD"/>
          </a:solidFill>
        </a:fill>
      </a:tcStyle>
    </a:wholeTbl>
    <a:band2H>
      <a:tcTxStyle b="def" i="def"/>
      <a:tcStyle>
        <a:tcBdr/>
        <a:fill>
          <a:solidFill>
            <a:srgbClr val="E6F6EF"/>
          </a:solidFill>
        </a:fill>
      </a:tcStyle>
    </a:band2H>
    <a:firstCol>
      <a:tcTxStyle b="on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5" name="Shape 4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1pPr>
    <a:lvl2pPr indent="2286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2pPr>
    <a:lvl3pPr indent="4572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3pPr>
    <a:lvl4pPr indent="6858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4pPr>
    <a:lvl5pPr indent="9144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5pPr>
    <a:lvl6pPr indent="11430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6pPr>
    <a:lvl7pPr indent="13716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7pPr>
    <a:lvl8pPr indent="16002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8pPr>
    <a:lvl9pPr indent="18288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/>
          <p:nvPr>
            <p:ph type="title"/>
          </p:nvPr>
        </p:nvSpPr>
        <p:spPr>
          <a:xfrm>
            <a:off x="762000" y="3733800"/>
            <a:ext cx="7772400" cy="1143000"/>
          </a:xfrm>
          <a:prstGeom prst="rect">
            <a:avLst/>
          </a:prstGeom>
        </p:spPr>
        <p:txBody>
          <a:bodyPr lIns="45719" tIns="45719" rIns="45719" bIns="45719"/>
          <a:lstStyle/>
          <a:p>
            <a:pPr/>
            <a:r>
              <a:t>Title Text</a:t>
            </a:r>
          </a:p>
        </p:txBody>
      </p:sp>
      <p:pic>
        <p:nvPicPr>
          <p:cNvPr id="13" name="pptlogo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3200" y="1828800"/>
            <a:ext cx="3840163" cy="1303338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Shape 14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Shape 22"/>
          <p:cNvSpPr/>
          <p:nvPr>
            <p:ph type="body" idx="1"/>
          </p:nvPr>
        </p:nvSpPr>
        <p:spPr>
          <a:xfrm>
            <a:off x="685800" y="1982787"/>
            <a:ext cx="7773988" cy="3808413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hape 3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ptlogo1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43800" y="6172200"/>
            <a:ext cx="1371600" cy="466725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hape 3"/>
          <p:cNvSpPr/>
          <p:nvPr>
            <p:ph type="title"/>
          </p:nvPr>
        </p:nvSpPr>
        <p:spPr>
          <a:xfrm>
            <a:off x="685800" y="608012"/>
            <a:ext cx="7773988" cy="1144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Shape 4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hape 5"/>
          <p:cNvSpPr/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CC0000"/>
          </a:solidFill>
          <a:uFillTx/>
          <a:latin typeface="Gill Sans"/>
          <a:ea typeface="Gill Sans"/>
          <a:cs typeface="Gill Sans"/>
          <a:sym typeface="Gill Sans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CC0000"/>
          </a:solidFill>
          <a:uFillTx/>
          <a:latin typeface="Gill Sans"/>
          <a:ea typeface="Gill Sans"/>
          <a:cs typeface="Gill Sans"/>
          <a:sym typeface="Gill Sans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CC0000"/>
          </a:solidFill>
          <a:uFillTx/>
          <a:latin typeface="Gill Sans"/>
          <a:ea typeface="Gill Sans"/>
          <a:cs typeface="Gill Sans"/>
          <a:sym typeface="Gill Sans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CC0000"/>
          </a:solidFill>
          <a:uFillTx/>
          <a:latin typeface="Gill Sans"/>
          <a:ea typeface="Gill Sans"/>
          <a:cs typeface="Gill Sans"/>
          <a:sym typeface="Gill Sans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CC0000"/>
          </a:solidFill>
          <a:uFillTx/>
          <a:latin typeface="Gill Sans"/>
          <a:ea typeface="Gill Sans"/>
          <a:cs typeface="Gill Sans"/>
          <a:sym typeface="Gill Sans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CC0000"/>
          </a:solidFill>
          <a:uFillTx/>
          <a:latin typeface="Gill Sans"/>
          <a:ea typeface="Gill Sans"/>
          <a:cs typeface="Gill Sans"/>
          <a:sym typeface="Gill Sans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CC0000"/>
          </a:solidFill>
          <a:uFillTx/>
          <a:latin typeface="Gill Sans"/>
          <a:ea typeface="Gill Sans"/>
          <a:cs typeface="Gill Sans"/>
          <a:sym typeface="Gill Sans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CC0000"/>
          </a:solidFill>
          <a:uFillTx/>
          <a:latin typeface="Gill Sans"/>
          <a:ea typeface="Gill Sans"/>
          <a:cs typeface="Gill Sans"/>
          <a:sym typeface="Gill Sans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CC0000"/>
          </a:solidFill>
          <a:uFillTx/>
          <a:latin typeface="Gill Sans"/>
          <a:ea typeface="Gill Sans"/>
          <a:cs typeface="Gill Sans"/>
          <a:sym typeface="Gill Sans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4pPr>
      <a:lvl5pPr marL="22352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5pPr>
      <a:lvl6pPr marL="26924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6pPr>
      <a:lvl7pPr marL="31496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7pPr>
      <a:lvl8pPr marL="36068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8pPr>
      <a:lvl9pPr marL="40640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/>
          <p:nvPr/>
        </p:nvSpPr>
        <p:spPr>
          <a:xfrm>
            <a:off x="3429000" y="5943600"/>
            <a:ext cx="289560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Slide 1</a:t>
            </a:r>
          </a:p>
        </p:txBody>
      </p:sp>
      <p:sp>
        <p:nvSpPr>
          <p:cNvPr id="48" name="Shape 48"/>
          <p:cNvSpPr/>
          <p:nvPr>
            <p:ph type="title"/>
          </p:nvPr>
        </p:nvSpPr>
        <p:spPr>
          <a:xfrm>
            <a:off x="762000" y="3733800"/>
            <a:ext cx="7772400" cy="1143001"/>
          </a:xfrm>
          <a:prstGeom prst="rect">
            <a:avLst/>
          </a:prstGeom>
        </p:spPr>
        <p:txBody>
          <a:bodyPr/>
          <a:lstStyle/>
          <a:p>
            <a:pPr defTabSz="384047">
              <a:defRPr sz="1679">
                <a:latin typeface="Arial"/>
                <a:ea typeface="Arial"/>
                <a:cs typeface="Arial"/>
                <a:sym typeface="Arial"/>
              </a:defRPr>
            </a:pPr>
            <a:br/>
            <a:r>
              <a:rPr sz="1470"/>
              <a:t>ERTMS Route Business Case Results</a:t>
            </a:r>
            <a:br>
              <a:rPr sz="1470"/>
            </a:br>
            <a:br>
              <a:rPr sz="1470"/>
            </a:br>
            <a:r>
              <a:rPr sz="839"/>
              <a:t> </a:t>
            </a:r>
            <a:br>
              <a:rPr sz="839"/>
            </a:br>
            <a:br>
              <a:rPr sz="839"/>
            </a:br>
            <a:r>
              <a:rPr sz="1008"/>
              <a:t> 9</a:t>
            </a:r>
            <a:r>
              <a:rPr baseline="27238" sz="1008"/>
              <a:t>th</a:t>
            </a:r>
            <a:r>
              <a:rPr sz="1008"/>
              <a:t> November 2006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/>
          <p:nvPr/>
        </p:nvSpPr>
        <p:spPr>
          <a:xfrm>
            <a:off x="3124200" y="6019800"/>
            <a:ext cx="297180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457200" indent="-457200" algn="ctr">
              <a:defRPr sz="1400"/>
            </a:lvl1pPr>
          </a:lstStyle>
          <a:p>
            <a:pPr/>
            <a:r>
              <a:t>Slide 2</a:t>
            </a:r>
          </a:p>
        </p:txBody>
      </p:sp>
      <p:sp>
        <p:nvSpPr>
          <p:cNvPr id="51" name="Shape 51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ERTMS Benefits</a:t>
            </a:r>
          </a:p>
        </p:txBody>
      </p:sp>
      <p:sp>
        <p:nvSpPr>
          <p:cNvPr id="52" name="Shape 52"/>
          <p:cNvSpPr/>
          <p:nvPr>
            <p:ph type="body" idx="1"/>
          </p:nvPr>
        </p:nvSpPr>
        <p:spPr>
          <a:xfrm>
            <a:off x="685800" y="1668462"/>
            <a:ext cx="7773988" cy="424338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  <a:spcBef>
                <a:spcPts val="300"/>
              </a:spcBef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Long term capital cost reductions</a:t>
            </a:r>
          </a:p>
          <a:p>
            <a:pPr>
              <a:lnSpc>
                <a:spcPct val="80000"/>
              </a:lnSpc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lnSpc>
                <a:spcPct val="80000"/>
              </a:lnSpc>
              <a:spcBef>
                <a:spcPts val="300"/>
              </a:spcBef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Operations and maintenance cost reductions</a:t>
            </a:r>
          </a:p>
          <a:p>
            <a:pPr>
              <a:lnSpc>
                <a:spcPct val="80000"/>
              </a:lnSpc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lnSpc>
                <a:spcPct val="80000"/>
              </a:lnSpc>
              <a:spcBef>
                <a:spcPts val="300"/>
              </a:spcBef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Operational improvements including performance, bi-directional capability and as an enabler to improve use of capacity</a:t>
            </a:r>
          </a:p>
          <a:p>
            <a:pPr>
              <a:lnSpc>
                <a:spcPct val="80000"/>
              </a:lnSpc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lnSpc>
                <a:spcPct val="80000"/>
              </a:lnSpc>
              <a:spcBef>
                <a:spcPts val="300"/>
              </a:spcBef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Rail user benefits leading to an increase in revenue</a:t>
            </a:r>
          </a:p>
          <a:p>
            <a:pPr lvl="1" marL="742950" indent="-285750">
              <a:lnSpc>
                <a:spcPct val="80000"/>
              </a:lnSpc>
              <a:spcBef>
                <a:spcPts val="0"/>
              </a:spcBef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Time Improvement</a:t>
            </a:r>
          </a:p>
          <a:p>
            <a:pPr lvl="1" marL="742950" indent="-285750">
              <a:lnSpc>
                <a:spcPct val="80000"/>
              </a:lnSpc>
              <a:spcBef>
                <a:spcPts val="0"/>
              </a:spcBef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Crowding (disbenefit)</a:t>
            </a:r>
          </a:p>
          <a:p>
            <a:pPr lvl="1" marL="742950" indent="-285750">
              <a:lnSpc>
                <a:spcPct val="80000"/>
              </a:lnSpc>
              <a:spcBef>
                <a:spcPts val="0"/>
              </a:spcBef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Safety (ATP, track worker, level crossing)</a:t>
            </a:r>
          </a:p>
          <a:p>
            <a:pPr lvl="1" marL="742950" indent="-285750">
              <a:lnSpc>
                <a:spcPct val="80000"/>
              </a:lnSpc>
              <a:spcBef>
                <a:spcPts val="0"/>
              </a:spcBef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Reliability</a:t>
            </a:r>
          </a:p>
          <a:p>
            <a:pPr lvl="1" marL="742950" indent="-285750">
              <a:lnSpc>
                <a:spcPct val="80000"/>
              </a:lnSpc>
              <a:spcBef>
                <a:spcPts val="0"/>
              </a:spcBef>
              <a:defRPr sz="1600"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lnSpc>
                <a:spcPct val="80000"/>
              </a:lnSpc>
              <a:spcBef>
                <a:spcPts val="300"/>
              </a:spcBef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Economic benefits including improvements in road congestion and road safety and environmental benefits</a:t>
            </a:r>
          </a:p>
          <a:p>
            <a:pPr>
              <a:lnSpc>
                <a:spcPct val="80000"/>
              </a:lnSpc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lnSpc>
                <a:spcPct val="80000"/>
              </a:lnSpc>
              <a:spcBef>
                <a:spcPts val="300"/>
              </a:spcBef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Interoperability (thus meeting the requirements of the EC Directives and associated UK law)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/>
          <p:nvPr/>
        </p:nvSpPr>
        <p:spPr>
          <a:xfrm>
            <a:off x="3124200" y="6019800"/>
            <a:ext cx="297180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457200" indent="-457200" algn="ctr">
              <a:defRPr sz="1400"/>
            </a:lvl1pPr>
          </a:lstStyle>
          <a:p>
            <a:pPr/>
            <a:r>
              <a:t>Slide 3</a:t>
            </a:r>
          </a:p>
        </p:txBody>
      </p:sp>
      <p:sp>
        <p:nvSpPr>
          <p:cNvPr id="55" name="Shape 55"/>
          <p:cNvSpPr/>
          <p:nvPr>
            <p:ph type="title"/>
          </p:nvPr>
        </p:nvSpPr>
        <p:spPr>
          <a:xfrm>
            <a:off x="685800" y="536575"/>
            <a:ext cx="7773988" cy="1144588"/>
          </a:xfrm>
          <a:prstGeom prst="rect">
            <a:avLst/>
          </a:prstGeom>
        </p:spPr>
        <p:txBody>
          <a:bodyPr/>
          <a:lstStyle/>
          <a:p>
            <a:pPr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t>Route Business Cases </a:t>
            </a:r>
            <a:br/>
            <a:r>
              <a:t>Assumptions</a:t>
            </a:r>
          </a:p>
        </p:txBody>
      </p:sp>
      <p:sp>
        <p:nvSpPr>
          <p:cNvPr id="56" name="Shape 56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  <a:spcBef>
                <a:spcPts val="300"/>
              </a:spcBef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For the </a:t>
            </a:r>
            <a:r>
              <a:rPr i="1"/>
              <a:t>route</a:t>
            </a:r>
            <a:r>
              <a:t> business cases, the following assumptions have been made:</a:t>
            </a:r>
          </a:p>
          <a:p>
            <a:pPr>
              <a:lnSpc>
                <a:spcPct val="80000"/>
              </a:lnSpc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marL="742950" indent="-285750">
              <a:lnSpc>
                <a:spcPct val="80000"/>
              </a:lnSpc>
              <a:spcBef>
                <a:spcPts val="0"/>
              </a:spcBef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Migration costs have been excluded</a:t>
            </a:r>
          </a:p>
          <a:p>
            <a:pPr lvl="1" marL="742950" indent="-285750">
              <a:lnSpc>
                <a:spcPct val="80000"/>
              </a:lnSpc>
              <a:spcBef>
                <a:spcPts val="0"/>
              </a:spcBef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Development costs have been excluded</a:t>
            </a:r>
          </a:p>
          <a:p>
            <a:pPr lvl="1" marL="742950" indent="-285750">
              <a:lnSpc>
                <a:spcPct val="80000"/>
              </a:lnSpc>
              <a:spcBef>
                <a:spcPts val="0"/>
              </a:spcBef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A number of freight vehicles have been included as a minimum subfleet, based upon the maximum trains per day along the route (source: Freight RUS data) plus an allowance for maintenance and operational reasons.</a:t>
            </a:r>
          </a:p>
          <a:p>
            <a:pPr lvl="1" marL="742950" indent="-285750">
              <a:lnSpc>
                <a:spcPct val="80000"/>
              </a:lnSpc>
              <a:spcBef>
                <a:spcPts val="0"/>
              </a:spcBef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A percentage of On Track Plant will be included (currently none)</a:t>
            </a:r>
          </a:p>
          <a:p>
            <a:pPr lvl="1" marL="742950" indent="-285750">
              <a:lnSpc>
                <a:spcPct val="80000"/>
              </a:lnSpc>
              <a:spcBef>
                <a:spcPts val="0"/>
              </a:spcBef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Results are currently unrisked, however risk and optimism bias will be applied (three separate results will be shown as per the DfT report)</a:t>
            </a:r>
          </a:p>
          <a:p>
            <a:pPr lvl="1" marL="742950" indent="-285750">
              <a:lnSpc>
                <a:spcPct val="80000"/>
              </a:lnSpc>
              <a:spcBef>
                <a:spcPts val="0"/>
              </a:spcBef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Appraisal period is set such that second-cycle System D costs are not picked up</a:t>
            </a:r>
          </a:p>
          <a:p>
            <a:pPr lvl="1" marL="742950" indent="-285750">
              <a:lnSpc>
                <a:spcPct val="80000"/>
              </a:lnSpc>
              <a:spcBef>
                <a:spcPts val="0"/>
              </a:spcBef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Updated train unit costs have been included (October 2006)</a:t>
            </a:r>
          </a:p>
          <a:p>
            <a:pPr lvl="1" marL="742950" indent="-285750">
              <a:lnSpc>
                <a:spcPct val="80000"/>
              </a:lnSpc>
              <a:spcBef>
                <a:spcPts val="0"/>
              </a:spcBef>
              <a:defRPr sz="1600"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lnSpc>
                <a:spcPct val="80000"/>
              </a:lnSpc>
              <a:spcBef>
                <a:spcPts val="300"/>
              </a:spcBef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For the </a:t>
            </a:r>
            <a:r>
              <a:rPr i="1"/>
              <a:t>sub national </a:t>
            </a:r>
            <a:r>
              <a:t>case, the appraisal period will be 60 years (because it is a programme of work), and migration and development costs will be added.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/>
          <p:nvPr/>
        </p:nvSpPr>
        <p:spPr>
          <a:xfrm>
            <a:off x="3124200" y="6019800"/>
            <a:ext cx="297180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457200" indent="-457200" algn="ctr">
              <a:defRPr sz="1400"/>
            </a:lvl1pPr>
          </a:lstStyle>
          <a:p>
            <a:pPr/>
            <a:r>
              <a:t>Slide 4</a:t>
            </a:r>
          </a:p>
        </p:txBody>
      </p:sp>
      <p:sp>
        <p:nvSpPr>
          <p:cNvPr id="59" name="Shape 59"/>
          <p:cNvSpPr/>
          <p:nvPr>
            <p:ph type="body" idx="1"/>
          </p:nvPr>
        </p:nvSpPr>
        <p:spPr>
          <a:xfrm>
            <a:off x="685800" y="1882775"/>
            <a:ext cx="7773988" cy="3749675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300"/>
              </a:spcBef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Two initiatives have focused on updating the unit cost profile for ERTMS:</a:t>
            </a:r>
          </a:p>
          <a:p>
            <a:pPr lvl="1" marL="742950" indent="-285750">
              <a:spcBef>
                <a:spcPts val="0"/>
              </a:spcBef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System Architecture Changes</a:t>
            </a:r>
          </a:p>
          <a:p>
            <a:pPr lvl="1" marL="742950" indent="-285750">
              <a:spcBef>
                <a:spcPts val="0"/>
              </a:spcBef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Cost Profile Changes</a:t>
            </a:r>
          </a:p>
          <a:p>
            <a:pPr>
              <a:spcBef>
                <a:spcPts val="300"/>
              </a:spcBef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Two primary data sources have been used:</a:t>
            </a:r>
          </a:p>
          <a:p>
            <a:pPr lvl="1" marL="742950" indent="-285750">
              <a:spcBef>
                <a:spcPts val="0"/>
              </a:spcBef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Cambrian Tender</a:t>
            </a:r>
          </a:p>
          <a:p>
            <a:pPr lvl="1" marL="742950" indent="-285750">
              <a:spcBef>
                <a:spcPts val="0"/>
              </a:spcBef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Meetings with Suppliers</a:t>
            </a:r>
          </a:p>
          <a:p>
            <a:pPr>
              <a:spcBef>
                <a:spcPts val="300"/>
              </a:spcBef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Other cost changes will be included as part of the business case sensitivity analysis:</a:t>
            </a:r>
          </a:p>
          <a:p>
            <a:pPr lvl="1" marL="742950" indent="-285750">
              <a:spcBef>
                <a:spcPts val="0"/>
              </a:spcBef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Cost reductions that have not been validated by suppliers but have been identified and robustly assessed by the team</a:t>
            </a:r>
          </a:p>
          <a:p>
            <a:pPr lvl="2" marL="1143000" indent="-228600">
              <a:spcBef>
                <a:spcPts val="0"/>
              </a:spcBef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New Train Costs</a:t>
            </a:r>
          </a:p>
          <a:p>
            <a:pPr lvl="2" marL="1143000" indent="-228600">
              <a:spcBef>
                <a:spcPts val="0"/>
              </a:spcBef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Improvements in spares and operational costs as a result of procurement strategy</a:t>
            </a:r>
          </a:p>
          <a:p>
            <a:pPr lvl="2" marL="1143000" indent="-228600">
              <a:spcBef>
                <a:spcPts val="0"/>
              </a:spcBef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Cost reductions resulting from volume and maturity</a:t>
            </a:r>
          </a:p>
          <a:p>
            <a:pPr lvl="2" marL="1143000" indent="-228600">
              <a:spcBef>
                <a:spcPts val="0"/>
              </a:spcBef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Common cost reductions resulting from ERTMS</a:t>
            </a:r>
          </a:p>
        </p:txBody>
      </p:sp>
      <p:sp>
        <p:nvSpPr>
          <p:cNvPr id="60" name="Shape 60"/>
          <p:cNvSpPr/>
          <p:nvPr/>
        </p:nvSpPr>
        <p:spPr>
          <a:xfrm>
            <a:off x="685800" y="632777"/>
            <a:ext cx="7773988" cy="1095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spAutoFit/>
          </a:bodyPr>
          <a:lstStyle>
            <a:lvl1pPr algn="ctr">
              <a:defRPr sz="35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Changes from DfT Submission Assumptions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/>
        </p:nvSpPr>
        <p:spPr>
          <a:xfrm>
            <a:off x="3124200" y="6019800"/>
            <a:ext cx="297180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457200" indent="-457200" algn="ctr">
              <a:defRPr sz="1400"/>
            </a:lvl1pPr>
          </a:lstStyle>
          <a:p>
            <a:pPr/>
            <a:r>
              <a:t>Slide 5</a:t>
            </a:r>
          </a:p>
        </p:txBody>
      </p:sp>
      <p:sp>
        <p:nvSpPr>
          <p:cNvPr id="63" name="Shape 63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Changes from DfT Submission Assumptions – continued</a:t>
            </a:r>
          </a:p>
        </p:txBody>
      </p:sp>
      <p:sp>
        <p:nvSpPr>
          <p:cNvPr id="64" name="Shape 64"/>
          <p:cNvSpPr/>
          <p:nvPr>
            <p:ph type="body" idx="1"/>
          </p:nvPr>
        </p:nvSpPr>
        <p:spPr>
          <a:xfrm>
            <a:off x="685800" y="1982787"/>
            <a:ext cx="7845425" cy="4054476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  <a:spcBef>
                <a:spcPts val="300"/>
              </a:spcBef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The following changes have been made in the unit cost model:</a:t>
            </a:r>
          </a:p>
          <a:p>
            <a:pPr lvl="1" marL="742950" indent="-285750">
              <a:lnSpc>
                <a:spcPct val="80000"/>
              </a:lnSpc>
              <a:spcBef>
                <a:spcPts val="0"/>
              </a:spcBef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System architecture changes</a:t>
            </a:r>
          </a:p>
          <a:p>
            <a:pPr lvl="2" marL="1143000" indent="-228600">
              <a:lnSpc>
                <a:spcPct val="80000"/>
              </a:lnSpc>
              <a:spcBef>
                <a:spcPts val="0"/>
              </a:spcBef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1 x EVC required for 5-car Multiple Units (or shorter)</a:t>
            </a:r>
          </a:p>
          <a:p>
            <a:pPr lvl="2" marL="1143000" indent="-228600">
              <a:lnSpc>
                <a:spcPct val="80000"/>
              </a:lnSpc>
              <a:spcBef>
                <a:spcPts val="0"/>
              </a:spcBef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2 x Balise Antennas for K2 type vehicles</a:t>
            </a:r>
          </a:p>
          <a:p>
            <a:pPr lvl="1" marL="742950" indent="-285750">
              <a:lnSpc>
                <a:spcPct val="80000"/>
              </a:lnSpc>
              <a:spcBef>
                <a:spcPts val="0"/>
              </a:spcBef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Software design costs are fixed at £100k per CLASS, rather than included in the equipment prices</a:t>
            </a:r>
          </a:p>
          <a:p>
            <a:pPr lvl="2" marL="1143000" indent="-228600">
              <a:lnSpc>
                <a:spcPct val="80000"/>
              </a:lnSpc>
              <a:spcBef>
                <a:spcPts val="0"/>
              </a:spcBef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Some cost reduction per train, but depends on the number of trains per class per route</a:t>
            </a:r>
          </a:p>
          <a:p>
            <a:pPr lvl="2" marL="1143000" indent="-228600">
              <a:lnSpc>
                <a:spcPct val="80000"/>
              </a:lnSpc>
              <a:spcBef>
                <a:spcPts val="0"/>
              </a:spcBef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Key cost reduction in terms of absolute spares costs as previously this was 20% of hardware </a:t>
            </a:r>
            <a:r>
              <a:rPr i="1"/>
              <a:t>and software</a:t>
            </a:r>
          </a:p>
          <a:p>
            <a:pPr lvl="1" marL="742950" indent="-285750">
              <a:lnSpc>
                <a:spcPct val="80000"/>
              </a:lnSpc>
              <a:spcBef>
                <a:spcPts val="0"/>
              </a:spcBef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Hardware costs updated to reflect latest supplier quotes, using an ‘averaging approach’</a:t>
            </a:r>
          </a:p>
          <a:p>
            <a:pPr lvl="1" marL="742950" indent="-285750">
              <a:lnSpc>
                <a:spcPct val="80000"/>
              </a:lnSpc>
              <a:spcBef>
                <a:spcPts val="0"/>
              </a:spcBef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Increase in Test &amp; Commissioning Costs</a:t>
            </a:r>
          </a:p>
          <a:p>
            <a:pPr lvl="1" marL="742950" indent="-285750">
              <a:lnSpc>
                <a:spcPct val="80000"/>
              </a:lnSpc>
              <a:spcBef>
                <a:spcPts val="0"/>
              </a:spcBef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Increase in Approvals Costs (for retrofit)</a:t>
            </a:r>
          </a:p>
          <a:p>
            <a:pPr lvl="2" marL="1143000" indent="-228600">
              <a:lnSpc>
                <a:spcPct val="80000"/>
              </a:lnSpc>
              <a:spcBef>
                <a:spcPts val="0"/>
              </a:spcBef>
              <a:defRPr sz="1400"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lnSpc>
                <a:spcPct val="80000"/>
              </a:lnSpc>
              <a:spcBef>
                <a:spcPts val="300"/>
              </a:spcBef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Further clarification is needed in relation to:</a:t>
            </a:r>
          </a:p>
          <a:p>
            <a:pPr lvl="1" marL="742950" indent="-285750">
              <a:lnSpc>
                <a:spcPct val="80000"/>
              </a:lnSpc>
              <a:spcBef>
                <a:spcPts val="0"/>
              </a:spcBef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Maintenance system</a:t>
            </a:r>
          </a:p>
          <a:p>
            <a:pPr lvl="1" marL="742950" indent="-285750">
              <a:lnSpc>
                <a:spcPct val="80000"/>
              </a:lnSpc>
              <a:spcBef>
                <a:spcPts val="0"/>
              </a:spcBef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Retrofit costs, including through vehicle conduit</a:t>
            </a:r>
          </a:p>
          <a:p>
            <a:pPr lvl="1" marL="285750" indent="171450">
              <a:lnSpc>
                <a:spcPct val="80000"/>
              </a:lnSpc>
              <a:spcBef>
                <a:spcPts val="0"/>
              </a:spcBef>
              <a:buSzTx/>
              <a:buNone/>
              <a:defRPr sz="1400"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lnSpc>
                <a:spcPct val="80000"/>
              </a:lnSpc>
              <a:spcBef>
                <a:spcPts val="300"/>
              </a:spcBef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The changes will be reviewed by Vehicle Interface Group (VIG)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dissolve/>
      </p:transition>
    </mc:Choice>
    <mc:Fallback>
      <p:transition spd="fast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/>
          <p:nvPr/>
        </p:nvSpPr>
        <p:spPr>
          <a:xfrm>
            <a:off x="3124200" y="6019800"/>
            <a:ext cx="297180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457200" indent="-457200" algn="ctr">
              <a:defRPr sz="1400"/>
            </a:lvl1pPr>
          </a:lstStyle>
          <a:p>
            <a:pPr/>
            <a:r>
              <a:t>Slide 6</a:t>
            </a:r>
          </a:p>
        </p:txBody>
      </p:sp>
      <p:sp>
        <p:nvSpPr>
          <p:cNvPr id="67" name="Shape 67"/>
          <p:cNvSpPr/>
          <p:nvPr>
            <p:ph type="title"/>
          </p:nvPr>
        </p:nvSpPr>
        <p:spPr>
          <a:xfrm>
            <a:off x="685800" y="493712"/>
            <a:ext cx="7773988" cy="1144588"/>
          </a:xfrm>
          <a:prstGeom prst="rect">
            <a:avLst/>
          </a:prstGeom>
        </p:spPr>
        <p:txBody>
          <a:bodyPr/>
          <a:lstStyle>
            <a:lvl1pPr>
              <a:defRPr sz="3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Definitions</a:t>
            </a:r>
          </a:p>
        </p:txBody>
      </p:sp>
      <p:sp>
        <p:nvSpPr>
          <p:cNvPr id="68" name="Shape 68"/>
          <p:cNvSpPr/>
          <p:nvPr>
            <p:ph type="body" idx="1"/>
          </p:nvPr>
        </p:nvSpPr>
        <p:spPr>
          <a:xfrm>
            <a:off x="671512" y="1471612"/>
            <a:ext cx="7773988" cy="451961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300"/>
              </a:spcBef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Signalling Definitions:</a:t>
            </a:r>
          </a:p>
          <a:p>
            <a:pPr lvl="1" marL="742950" indent="-285750">
              <a:spcBef>
                <a:spcPts val="0"/>
              </a:spcBef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‘</a:t>
            </a:r>
            <a:r>
              <a:rPr b="1">
                <a:solidFill>
                  <a:srgbClr val="CC0000"/>
                </a:solidFill>
              </a:rPr>
              <a:t>S</a:t>
            </a:r>
            <a:r>
              <a:t>’ is a full conventional renewal with replacement of signalling equipment including structures and control centre. Scheme designed from scratch to current standards</a:t>
            </a:r>
          </a:p>
          <a:p>
            <a:pPr lvl="1" marL="742950" indent="-285750">
              <a:spcBef>
                <a:spcPts val="0"/>
              </a:spcBef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‘</a:t>
            </a:r>
            <a:r>
              <a:rPr b="1">
                <a:solidFill>
                  <a:srgbClr val="CC0000"/>
                </a:solidFill>
              </a:rPr>
              <a:t>SFS</a:t>
            </a:r>
            <a:r>
              <a:t>’ is a full like-for-like conventional renewal of an existing SSI interlocking including external cables, equipment and the control panel/VDU, but not including replacement of major structures</a:t>
            </a:r>
          </a:p>
          <a:p>
            <a:pPr lvl="1" marL="742950" indent="-285750">
              <a:spcBef>
                <a:spcPts val="0"/>
              </a:spcBef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‘</a:t>
            </a:r>
            <a:r>
              <a:rPr b="1">
                <a:solidFill>
                  <a:srgbClr val="CC0000"/>
                </a:solidFill>
              </a:rPr>
              <a:t>SXR</a:t>
            </a:r>
            <a:r>
              <a:t>’ is the renewal of a conventional interlocking with SSI, without renewal of external cables or equipment. The existing control centre and panel/VDU is retained</a:t>
            </a:r>
          </a:p>
          <a:p>
            <a:pPr lvl="1" marL="742950" indent="-285750">
              <a:spcBef>
                <a:spcPts val="0"/>
              </a:spcBef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‘</a:t>
            </a:r>
            <a:r>
              <a:rPr b="1">
                <a:solidFill>
                  <a:srgbClr val="CC0000"/>
                </a:solidFill>
              </a:rPr>
              <a:t>OEO</a:t>
            </a:r>
            <a:r>
              <a:t>’ is Outside Equipment Only, typically required 10 years after the renewal/life extension of an interlocking</a:t>
            </a:r>
          </a:p>
          <a:p>
            <a:pPr lvl="1" marL="742950" indent="-285750">
              <a:spcBef>
                <a:spcPts val="0"/>
              </a:spcBef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‘</a:t>
            </a:r>
            <a:r>
              <a:rPr b="1">
                <a:solidFill>
                  <a:srgbClr val="CC0000"/>
                </a:solidFill>
              </a:rPr>
              <a:t>MECH</a:t>
            </a:r>
            <a:r>
              <a:t>’ are mechanical interlockings/gate cabins, which do not require renewal in the conventional plan (only life extension)</a:t>
            </a:r>
          </a:p>
          <a:p>
            <a:pPr lvl="1" marL="742950" indent="-285750">
              <a:spcBef>
                <a:spcPts val="0"/>
              </a:spcBef>
              <a:defRPr sz="1600"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spcBef>
                <a:spcPts val="300"/>
              </a:spcBef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Conventional plan dates and systems are taken from the signalling workbank as at June 2006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/>
        </p:nvSpPr>
        <p:spPr>
          <a:xfrm>
            <a:off x="3124200" y="6019800"/>
            <a:ext cx="297180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457200" indent="-457200" algn="ctr">
              <a:defRPr sz="1400"/>
            </a:lvl1pPr>
          </a:lstStyle>
          <a:p>
            <a:pPr/>
            <a:r>
              <a:t>Slide 7</a:t>
            </a:r>
          </a:p>
        </p:txBody>
      </p:sp>
      <p:sp>
        <p:nvSpPr>
          <p:cNvPr id="71" name="Shape 71"/>
          <p:cNvSpPr/>
          <p:nvPr>
            <p:ph type="title"/>
          </p:nvPr>
        </p:nvSpPr>
        <p:spPr>
          <a:xfrm>
            <a:off x="671512" y="633412"/>
            <a:ext cx="8020051" cy="549276"/>
          </a:xfrm>
          <a:prstGeom prst="rect">
            <a:avLst/>
          </a:prstGeom>
        </p:spPr>
        <p:txBody>
          <a:bodyPr anchor="t"/>
          <a:lstStyle>
            <a:lvl1pPr>
              <a:defRPr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GWML Implementation Plan – Conventional</a:t>
            </a:r>
          </a:p>
        </p:txBody>
      </p:sp>
      <p:grpSp>
        <p:nvGrpSpPr>
          <p:cNvPr id="74" name="Group 74"/>
          <p:cNvGrpSpPr/>
          <p:nvPr/>
        </p:nvGrpSpPr>
        <p:grpSpPr>
          <a:xfrm>
            <a:off x="7898736" y="190500"/>
            <a:ext cx="1071303" cy="423863"/>
            <a:chOff x="0" y="0"/>
            <a:chExt cx="1071301" cy="423862"/>
          </a:xfrm>
        </p:grpSpPr>
        <p:sp>
          <p:nvSpPr>
            <p:cNvPr id="72" name="Shape 72"/>
            <p:cNvSpPr/>
            <p:nvPr/>
          </p:nvSpPr>
          <p:spPr>
            <a:xfrm>
              <a:off x="3838" y="0"/>
              <a:ext cx="1063626" cy="423863"/>
            </a:xfrm>
            <a:prstGeom prst="rect">
              <a:avLst/>
            </a:prstGeom>
            <a:solidFill>
              <a:srgbClr val="00808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pPr>
            </a:p>
          </p:txBody>
        </p:sp>
        <p:sp>
          <p:nvSpPr>
            <p:cNvPr id="73" name="Shape 73"/>
            <p:cNvSpPr/>
            <p:nvPr/>
          </p:nvSpPr>
          <p:spPr>
            <a:xfrm>
              <a:off x="0" y="155"/>
              <a:ext cx="1071302" cy="423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6799" tIns="46799" rIns="46799" bIns="4679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lvl1pPr>
            </a:lstStyle>
            <a:p>
              <a:pPr/>
              <a:r>
                <a:t>GWML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3571875" y="165100"/>
            <a:ext cx="1939925" cy="423863"/>
            <a:chOff x="0" y="0"/>
            <a:chExt cx="1939925" cy="423862"/>
          </a:xfrm>
        </p:grpSpPr>
        <p:sp>
          <p:nvSpPr>
            <p:cNvPr id="75" name="Shape 75"/>
            <p:cNvSpPr/>
            <p:nvPr/>
          </p:nvSpPr>
          <p:spPr>
            <a:xfrm>
              <a:off x="0" y="0"/>
              <a:ext cx="1939925" cy="423863"/>
            </a:xfrm>
            <a:prstGeom prst="rect">
              <a:avLst/>
            </a:prstGeom>
            <a:solidFill>
              <a:srgbClr val="00808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pPr>
            </a:p>
          </p:txBody>
        </p:sp>
        <p:sp>
          <p:nvSpPr>
            <p:cNvPr id="76" name="Shape 76"/>
            <p:cNvSpPr/>
            <p:nvPr/>
          </p:nvSpPr>
          <p:spPr>
            <a:xfrm>
              <a:off x="95653" y="155"/>
              <a:ext cx="1748619" cy="423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6799" tIns="46799" rIns="46799" bIns="4679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lvl1pPr>
            </a:lstStyle>
            <a:p>
              <a:pPr/>
              <a:r>
                <a:t>Conventional</a:t>
              </a:r>
            </a:p>
          </p:txBody>
        </p:sp>
      </p:grpSp>
      <p:pic>
        <p:nvPicPr>
          <p:cNvPr id="78" name="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3412" y="1206500"/>
            <a:ext cx="8102601" cy="4978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/>
          <p:nvPr/>
        </p:nvSpPr>
        <p:spPr>
          <a:xfrm>
            <a:off x="3124200" y="6019800"/>
            <a:ext cx="297180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457200" indent="-457200" algn="ctr">
              <a:defRPr sz="1400"/>
            </a:lvl1pPr>
          </a:lstStyle>
          <a:p>
            <a:pPr/>
            <a:r>
              <a:t>Slide 8</a:t>
            </a:r>
          </a:p>
        </p:txBody>
      </p:sp>
      <p:sp>
        <p:nvSpPr>
          <p:cNvPr id="81" name="Shape 81"/>
          <p:cNvSpPr/>
          <p:nvPr>
            <p:ph type="title"/>
          </p:nvPr>
        </p:nvSpPr>
        <p:spPr>
          <a:xfrm>
            <a:off x="327025" y="277812"/>
            <a:ext cx="8223250" cy="1144588"/>
          </a:xfrm>
          <a:prstGeom prst="rect">
            <a:avLst/>
          </a:prstGeom>
        </p:spPr>
        <p:txBody>
          <a:bodyPr anchor="t"/>
          <a:lstStyle>
            <a:lvl1pPr algn="l">
              <a:defRPr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ERTMS Implementation Plan fits System D to most of the main line by 2020…</a:t>
            </a:r>
          </a:p>
        </p:txBody>
      </p:sp>
      <p:grpSp>
        <p:nvGrpSpPr>
          <p:cNvPr id="84" name="Group 84"/>
          <p:cNvGrpSpPr/>
          <p:nvPr/>
        </p:nvGrpSpPr>
        <p:grpSpPr>
          <a:xfrm>
            <a:off x="7898736" y="190500"/>
            <a:ext cx="1071303" cy="423863"/>
            <a:chOff x="0" y="0"/>
            <a:chExt cx="1071301" cy="423862"/>
          </a:xfrm>
        </p:grpSpPr>
        <p:sp>
          <p:nvSpPr>
            <p:cNvPr id="82" name="Shape 82"/>
            <p:cNvSpPr/>
            <p:nvPr/>
          </p:nvSpPr>
          <p:spPr>
            <a:xfrm>
              <a:off x="3838" y="0"/>
              <a:ext cx="1063626" cy="423863"/>
            </a:xfrm>
            <a:prstGeom prst="rect">
              <a:avLst/>
            </a:prstGeom>
            <a:solidFill>
              <a:srgbClr val="00808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pPr>
            </a:p>
          </p:txBody>
        </p:sp>
        <p:sp>
          <p:nvSpPr>
            <p:cNvPr id="83" name="Shape 83"/>
            <p:cNvSpPr/>
            <p:nvPr/>
          </p:nvSpPr>
          <p:spPr>
            <a:xfrm>
              <a:off x="0" y="155"/>
              <a:ext cx="1071302" cy="423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6799" tIns="46799" rIns="46799" bIns="4679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lvl1pPr>
            </a:lstStyle>
            <a:p>
              <a:pPr/>
              <a:r>
                <a:t>GWML</a:t>
              </a:r>
            </a:p>
          </p:txBody>
        </p:sp>
      </p:grpSp>
      <p:pic>
        <p:nvPicPr>
          <p:cNvPr id="85" name="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5587" y="1384300"/>
            <a:ext cx="8777288" cy="53927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/>
          <p:nvPr/>
        </p:nvSpPr>
        <p:spPr>
          <a:xfrm>
            <a:off x="3124200" y="6019800"/>
            <a:ext cx="297180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457200" indent="-457200" algn="ctr">
              <a:defRPr sz="1400"/>
            </a:lvl1pPr>
          </a:lstStyle>
          <a:p>
            <a:pPr/>
            <a:r>
              <a:t>Slide 9</a:t>
            </a:r>
          </a:p>
        </p:txBody>
      </p:sp>
      <p:sp>
        <p:nvSpPr>
          <p:cNvPr id="88" name="Shape 88"/>
          <p:cNvSpPr/>
          <p:nvPr>
            <p:ph type="title"/>
          </p:nvPr>
        </p:nvSpPr>
        <p:spPr>
          <a:xfrm>
            <a:off x="323850" y="633412"/>
            <a:ext cx="8062913" cy="476251"/>
          </a:xfrm>
          <a:prstGeom prst="rect">
            <a:avLst/>
          </a:prstGeom>
        </p:spPr>
        <p:txBody>
          <a:bodyPr anchor="t"/>
          <a:lstStyle>
            <a:lvl1pPr>
              <a:defRPr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…and the ATP fitted spurs</a:t>
            </a:r>
          </a:p>
        </p:txBody>
      </p:sp>
      <p:grpSp>
        <p:nvGrpSpPr>
          <p:cNvPr id="91" name="Group 91"/>
          <p:cNvGrpSpPr/>
          <p:nvPr/>
        </p:nvGrpSpPr>
        <p:grpSpPr>
          <a:xfrm>
            <a:off x="7898736" y="190500"/>
            <a:ext cx="1071303" cy="423863"/>
            <a:chOff x="0" y="0"/>
            <a:chExt cx="1071301" cy="423862"/>
          </a:xfrm>
        </p:grpSpPr>
        <p:sp>
          <p:nvSpPr>
            <p:cNvPr id="89" name="Shape 89"/>
            <p:cNvSpPr/>
            <p:nvPr/>
          </p:nvSpPr>
          <p:spPr>
            <a:xfrm>
              <a:off x="3838" y="0"/>
              <a:ext cx="1063626" cy="423863"/>
            </a:xfrm>
            <a:prstGeom prst="rect">
              <a:avLst/>
            </a:prstGeom>
            <a:solidFill>
              <a:srgbClr val="00808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pPr>
            </a:p>
          </p:txBody>
        </p:sp>
        <p:sp>
          <p:nvSpPr>
            <p:cNvPr id="90" name="Shape 90"/>
            <p:cNvSpPr/>
            <p:nvPr/>
          </p:nvSpPr>
          <p:spPr>
            <a:xfrm>
              <a:off x="0" y="155"/>
              <a:ext cx="1071302" cy="423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6799" tIns="46799" rIns="46799" bIns="4679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lvl1pPr>
            </a:lstStyle>
            <a:p>
              <a:pPr/>
              <a:r>
                <a:t>GWML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3457575" y="142875"/>
            <a:ext cx="1939925" cy="423863"/>
            <a:chOff x="0" y="0"/>
            <a:chExt cx="1939925" cy="423862"/>
          </a:xfrm>
        </p:grpSpPr>
        <p:sp>
          <p:nvSpPr>
            <p:cNvPr id="92" name="Shape 92"/>
            <p:cNvSpPr/>
            <p:nvPr/>
          </p:nvSpPr>
          <p:spPr>
            <a:xfrm>
              <a:off x="0" y="0"/>
              <a:ext cx="1939925" cy="423863"/>
            </a:xfrm>
            <a:prstGeom prst="rect">
              <a:avLst/>
            </a:prstGeom>
            <a:solidFill>
              <a:srgbClr val="00808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pPr>
            </a:p>
          </p:txBody>
        </p:sp>
        <p:sp>
          <p:nvSpPr>
            <p:cNvPr id="93" name="Shape 93"/>
            <p:cNvSpPr/>
            <p:nvPr/>
          </p:nvSpPr>
          <p:spPr>
            <a:xfrm>
              <a:off x="95653" y="155"/>
              <a:ext cx="1748619" cy="423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6799" tIns="46799" rIns="46799" bIns="4679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lvl1pPr>
            </a:lstStyle>
            <a:p>
              <a:pPr/>
              <a:r>
                <a:t>Conventional</a:t>
              </a:r>
            </a:p>
          </p:txBody>
        </p:sp>
      </p:grpSp>
      <p:pic>
        <p:nvPicPr>
          <p:cNvPr id="95" name="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0825" y="1108075"/>
            <a:ext cx="8220075" cy="50498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/>
          <p:nvPr/>
        </p:nvSpPr>
        <p:spPr>
          <a:xfrm>
            <a:off x="3124200" y="6019800"/>
            <a:ext cx="297180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457200" indent="-457200" algn="ctr">
              <a:defRPr sz="1400"/>
            </a:lvl1pPr>
          </a:lstStyle>
          <a:p>
            <a:pPr/>
            <a:r>
              <a:t>Slide 10</a:t>
            </a:r>
          </a:p>
        </p:txBody>
      </p:sp>
      <p:sp>
        <p:nvSpPr>
          <p:cNvPr id="98" name="Shape 98"/>
          <p:cNvSpPr/>
          <p:nvPr>
            <p:ph type="title"/>
          </p:nvPr>
        </p:nvSpPr>
        <p:spPr>
          <a:xfrm>
            <a:off x="327025" y="277812"/>
            <a:ext cx="7773988" cy="1144588"/>
          </a:xfrm>
          <a:prstGeom prst="rect">
            <a:avLst/>
          </a:prstGeom>
        </p:spPr>
        <p:txBody>
          <a:bodyPr anchor="t"/>
          <a:lstStyle>
            <a:lvl1pPr algn="l">
              <a:defRPr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… also fitting the lines to Newbury, Heathrow and Bristol Temple Meads…</a:t>
            </a:r>
          </a:p>
        </p:txBody>
      </p:sp>
      <p:grpSp>
        <p:nvGrpSpPr>
          <p:cNvPr id="101" name="Group 101"/>
          <p:cNvGrpSpPr/>
          <p:nvPr/>
        </p:nvGrpSpPr>
        <p:grpSpPr>
          <a:xfrm>
            <a:off x="7898736" y="190500"/>
            <a:ext cx="1071303" cy="423863"/>
            <a:chOff x="0" y="0"/>
            <a:chExt cx="1071301" cy="423862"/>
          </a:xfrm>
        </p:grpSpPr>
        <p:sp>
          <p:nvSpPr>
            <p:cNvPr id="99" name="Shape 99"/>
            <p:cNvSpPr/>
            <p:nvPr/>
          </p:nvSpPr>
          <p:spPr>
            <a:xfrm>
              <a:off x="3838" y="0"/>
              <a:ext cx="1063626" cy="423863"/>
            </a:xfrm>
            <a:prstGeom prst="rect">
              <a:avLst/>
            </a:prstGeom>
            <a:solidFill>
              <a:srgbClr val="00808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pPr>
            </a:p>
          </p:txBody>
        </p:sp>
        <p:sp>
          <p:nvSpPr>
            <p:cNvPr id="100" name="Shape 100"/>
            <p:cNvSpPr/>
            <p:nvPr/>
          </p:nvSpPr>
          <p:spPr>
            <a:xfrm>
              <a:off x="0" y="155"/>
              <a:ext cx="1071302" cy="423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6799" tIns="46799" rIns="46799" bIns="4679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lvl1pPr>
            </a:lstStyle>
            <a:p>
              <a:pPr/>
              <a:r>
                <a:t>GWML</a:t>
              </a:r>
            </a:p>
          </p:txBody>
        </p:sp>
      </p:grpSp>
      <p:pic>
        <p:nvPicPr>
          <p:cNvPr id="102" name="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662" y="1360487"/>
            <a:ext cx="8766176" cy="53863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/>
          <p:nvPr/>
        </p:nvSpPr>
        <p:spPr>
          <a:xfrm>
            <a:off x="3124200" y="6019800"/>
            <a:ext cx="297180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457200" indent="-457200" algn="ctr">
              <a:defRPr sz="1400"/>
            </a:lvl1pPr>
          </a:lstStyle>
          <a:p>
            <a:pPr/>
            <a:r>
              <a:t>Slide 11</a:t>
            </a:r>
          </a:p>
        </p:txBody>
      </p:sp>
      <p:sp>
        <p:nvSpPr>
          <p:cNvPr id="105" name="Shape 105"/>
          <p:cNvSpPr/>
          <p:nvPr>
            <p:ph type="title"/>
          </p:nvPr>
        </p:nvSpPr>
        <p:spPr>
          <a:xfrm>
            <a:off x="307975" y="633412"/>
            <a:ext cx="7818438" cy="433388"/>
          </a:xfrm>
          <a:prstGeom prst="rect">
            <a:avLst/>
          </a:prstGeom>
        </p:spPr>
        <p:txBody>
          <a:bodyPr anchor="t"/>
          <a:lstStyle>
            <a:lvl1pPr defTabSz="868680">
              <a:defRPr sz="247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…and extensions</a:t>
            </a:r>
          </a:p>
        </p:txBody>
      </p:sp>
      <p:grpSp>
        <p:nvGrpSpPr>
          <p:cNvPr id="108" name="Group 108"/>
          <p:cNvGrpSpPr/>
          <p:nvPr/>
        </p:nvGrpSpPr>
        <p:grpSpPr>
          <a:xfrm>
            <a:off x="7898736" y="190500"/>
            <a:ext cx="1071303" cy="423863"/>
            <a:chOff x="0" y="0"/>
            <a:chExt cx="1071301" cy="423862"/>
          </a:xfrm>
        </p:grpSpPr>
        <p:sp>
          <p:nvSpPr>
            <p:cNvPr id="106" name="Shape 106"/>
            <p:cNvSpPr/>
            <p:nvPr/>
          </p:nvSpPr>
          <p:spPr>
            <a:xfrm>
              <a:off x="3838" y="0"/>
              <a:ext cx="1063626" cy="423863"/>
            </a:xfrm>
            <a:prstGeom prst="rect">
              <a:avLst/>
            </a:prstGeom>
            <a:solidFill>
              <a:srgbClr val="00808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pPr>
            </a:p>
          </p:txBody>
        </p:sp>
        <p:sp>
          <p:nvSpPr>
            <p:cNvPr id="107" name="Shape 107"/>
            <p:cNvSpPr/>
            <p:nvPr/>
          </p:nvSpPr>
          <p:spPr>
            <a:xfrm>
              <a:off x="0" y="155"/>
              <a:ext cx="1071302" cy="423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6799" tIns="46799" rIns="46799" bIns="4679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lvl1pPr>
            </a:lstStyle>
            <a:p>
              <a:pPr/>
              <a:r>
                <a:t>GWML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3357562" y="165100"/>
            <a:ext cx="1939926" cy="423863"/>
            <a:chOff x="0" y="0"/>
            <a:chExt cx="1939925" cy="423862"/>
          </a:xfrm>
        </p:grpSpPr>
        <p:sp>
          <p:nvSpPr>
            <p:cNvPr id="109" name="Shape 109"/>
            <p:cNvSpPr/>
            <p:nvPr/>
          </p:nvSpPr>
          <p:spPr>
            <a:xfrm>
              <a:off x="0" y="0"/>
              <a:ext cx="1939925" cy="423863"/>
            </a:xfrm>
            <a:prstGeom prst="rect">
              <a:avLst/>
            </a:prstGeom>
            <a:solidFill>
              <a:srgbClr val="00808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pPr>
            </a:p>
          </p:txBody>
        </p:sp>
        <p:sp>
          <p:nvSpPr>
            <p:cNvPr id="110" name="Shape 110"/>
            <p:cNvSpPr/>
            <p:nvPr/>
          </p:nvSpPr>
          <p:spPr>
            <a:xfrm>
              <a:off x="95653" y="155"/>
              <a:ext cx="1748619" cy="423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6799" tIns="46799" rIns="46799" bIns="4679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lvl1pPr>
            </a:lstStyle>
            <a:p>
              <a:pPr/>
              <a:r>
                <a:t>Conventional</a:t>
              </a:r>
            </a:p>
          </p:txBody>
        </p:sp>
      </p:grpSp>
      <p:pic>
        <p:nvPicPr>
          <p:cNvPr id="112" name="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6537" y="1138237"/>
            <a:ext cx="7939088" cy="48783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/>
          <p:nvPr/>
        </p:nvSpPr>
        <p:spPr>
          <a:xfrm>
            <a:off x="3124200" y="6019800"/>
            <a:ext cx="297180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457200" indent="-457200" algn="ctr">
              <a:defRPr sz="1400"/>
            </a:lvl1pPr>
          </a:lstStyle>
          <a:p>
            <a:pPr/>
            <a:r>
              <a:t>Slide 12</a:t>
            </a:r>
          </a:p>
        </p:txBody>
      </p:sp>
      <p:sp>
        <p:nvSpPr>
          <p:cNvPr id="115" name="Shape 115"/>
          <p:cNvSpPr/>
          <p:nvPr>
            <p:ph type="title"/>
          </p:nvPr>
        </p:nvSpPr>
        <p:spPr>
          <a:xfrm>
            <a:off x="355600" y="163512"/>
            <a:ext cx="7497763" cy="1144588"/>
          </a:xfrm>
          <a:prstGeom prst="rect">
            <a:avLst/>
          </a:prstGeom>
        </p:spPr>
        <p:txBody>
          <a:bodyPr anchor="t"/>
          <a:lstStyle>
            <a:lvl1pPr algn="l" defTabSz="886968">
              <a:defRPr sz="2522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… and to Oxford, the Berks &amp; Hants line, and to Exeter as all trains will have been fitted with ERTMS</a:t>
            </a:r>
          </a:p>
        </p:txBody>
      </p:sp>
      <p:grpSp>
        <p:nvGrpSpPr>
          <p:cNvPr id="118" name="Group 118"/>
          <p:cNvGrpSpPr/>
          <p:nvPr/>
        </p:nvGrpSpPr>
        <p:grpSpPr>
          <a:xfrm>
            <a:off x="7898736" y="190500"/>
            <a:ext cx="1071303" cy="423863"/>
            <a:chOff x="0" y="0"/>
            <a:chExt cx="1071301" cy="423862"/>
          </a:xfrm>
        </p:grpSpPr>
        <p:sp>
          <p:nvSpPr>
            <p:cNvPr id="116" name="Shape 116"/>
            <p:cNvSpPr/>
            <p:nvPr/>
          </p:nvSpPr>
          <p:spPr>
            <a:xfrm>
              <a:off x="3838" y="0"/>
              <a:ext cx="1063626" cy="423863"/>
            </a:xfrm>
            <a:prstGeom prst="rect">
              <a:avLst/>
            </a:prstGeom>
            <a:solidFill>
              <a:srgbClr val="00808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pPr>
            </a:p>
          </p:txBody>
        </p:sp>
        <p:sp>
          <p:nvSpPr>
            <p:cNvPr id="117" name="Shape 117"/>
            <p:cNvSpPr/>
            <p:nvPr/>
          </p:nvSpPr>
          <p:spPr>
            <a:xfrm>
              <a:off x="0" y="155"/>
              <a:ext cx="1071302" cy="423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6799" tIns="46799" rIns="46799" bIns="4679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lvl1pPr>
            </a:lstStyle>
            <a:p>
              <a:pPr/>
              <a:r>
                <a:t>GWML</a:t>
              </a:r>
            </a:p>
          </p:txBody>
        </p:sp>
      </p:grpSp>
      <p:pic>
        <p:nvPicPr>
          <p:cNvPr id="119" name="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8275" y="1395412"/>
            <a:ext cx="8780463" cy="53959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/>
          <p:nvPr/>
        </p:nvSpPr>
        <p:spPr>
          <a:xfrm>
            <a:off x="3124200" y="6019800"/>
            <a:ext cx="297180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457200" indent="-457200" algn="ctr">
              <a:defRPr sz="1400"/>
            </a:lvl1pPr>
          </a:lstStyle>
          <a:p>
            <a:pPr/>
            <a:r>
              <a:t>Slide 13</a:t>
            </a:r>
          </a:p>
        </p:txBody>
      </p:sp>
      <p:sp>
        <p:nvSpPr>
          <p:cNvPr id="122" name="Shape 122"/>
          <p:cNvSpPr/>
          <p:nvPr>
            <p:ph type="title"/>
          </p:nvPr>
        </p:nvSpPr>
        <p:spPr>
          <a:xfrm>
            <a:off x="393700" y="620712"/>
            <a:ext cx="8078788" cy="492126"/>
          </a:xfrm>
          <a:prstGeom prst="rect">
            <a:avLst/>
          </a:prstGeom>
        </p:spPr>
        <p:txBody>
          <a:bodyPr anchor="t"/>
          <a:lstStyle>
            <a:lvl1pPr>
              <a:defRPr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GWML Conventional Signalling – SEUs per year</a:t>
            </a:r>
          </a:p>
        </p:txBody>
      </p:sp>
      <p:grpSp>
        <p:nvGrpSpPr>
          <p:cNvPr id="125" name="Group 125"/>
          <p:cNvGrpSpPr/>
          <p:nvPr/>
        </p:nvGrpSpPr>
        <p:grpSpPr>
          <a:xfrm>
            <a:off x="7898736" y="190500"/>
            <a:ext cx="1071303" cy="423863"/>
            <a:chOff x="0" y="0"/>
            <a:chExt cx="1071301" cy="423862"/>
          </a:xfrm>
        </p:grpSpPr>
        <p:sp>
          <p:nvSpPr>
            <p:cNvPr id="123" name="Shape 123"/>
            <p:cNvSpPr/>
            <p:nvPr/>
          </p:nvSpPr>
          <p:spPr>
            <a:xfrm>
              <a:off x="3838" y="0"/>
              <a:ext cx="1063626" cy="423863"/>
            </a:xfrm>
            <a:prstGeom prst="rect">
              <a:avLst/>
            </a:prstGeom>
            <a:solidFill>
              <a:srgbClr val="00808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pPr>
            </a:p>
          </p:txBody>
        </p:sp>
        <p:sp>
          <p:nvSpPr>
            <p:cNvPr id="124" name="Shape 124"/>
            <p:cNvSpPr/>
            <p:nvPr/>
          </p:nvSpPr>
          <p:spPr>
            <a:xfrm>
              <a:off x="0" y="155"/>
              <a:ext cx="1071302" cy="423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6799" tIns="46799" rIns="46799" bIns="4679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lvl1pPr>
            </a:lstStyle>
            <a:p>
              <a:pPr/>
              <a:r>
                <a:t>GWML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3800475" y="165100"/>
            <a:ext cx="1939925" cy="423863"/>
            <a:chOff x="0" y="0"/>
            <a:chExt cx="1939925" cy="423862"/>
          </a:xfrm>
        </p:grpSpPr>
        <p:sp>
          <p:nvSpPr>
            <p:cNvPr id="126" name="Shape 126"/>
            <p:cNvSpPr/>
            <p:nvPr/>
          </p:nvSpPr>
          <p:spPr>
            <a:xfrm>
              <a:off x="0" y="0"/>
              <a:ext cx="1939925" cy="423863"/>
            </a:xfrm>
            <a:prstGeom prst="rect">
              <a:avLst/>
            </a:prstGeom>
            <a:solidFill>
              <a:srgbClr val="00808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pPr>
            </a:p>
          </p:txBody>
        </p:sp>
        <p:sp>
          <p:nvSpPr>
            <p:cNvPr id="127" name="Shape 127"/>
            <p:cNvSpPr/>
            <p:nvPr/>
          </p:nvSpPr>
          <p:spPr>
            <a:xfrm>
              <a:off x="95653" y="155"/>
              <a:ext cx="1748619" cy="423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6799" tIns="46799" rIns="46799" bIns="4679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lvl1pPr>
            </a:lstStyle>
            <a:p>
              <a:pPr/>
              <a:r>
                <a:t>Conventional</a:t>
              </a:r>
            </a:p>
          </p:txBody>
        </p:sp>
      </p:grpSp>
      <p:pic>
        <p:nvPicPr>
          <p:cNvPr id="129" name="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8300" y="1184275"/>
            <a:ext cx="8181975" cy="50276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/>
          <p:nvPr/>
        </p:nvSpPr>
        <p:spPr>
          <a:xfrm>
            <a:off x="3124200" y="6019800"/>
            <a:ext cx="297180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457200" indent="-457200" algn="ctr">
              <a:defRPr sz="1400"/>
            </a:lvl1pPr>
          </a:lstStyle>
          <a:p>
            <a:pPr/>
            <a:r>
              <a:t>Slide 14</a:t>
            </a:r>
          </a:p>
        </p:txBody>
      </p:sp>
      <p:pic>
        <p:nvPicPr>
          <p:cNvPr id="132" name="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9437" y="1385887"/>
            <a:ext cx="7612063" cy="4676776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Shape 133"/>
          <p:cNvSpPr/>
          <p:nvPr>
            <p:ph type="title"/>
          </p:nvPr>
        </p:nvSpPr>
        <p:spPr>
          <a:xfrm>
            <a:off x="684212" y="620712"/>
            <a:ext cx="7773988" cy="752476"/>
          </a:xfrm>
          <a:prstGeom prst="rect">
            <a:avLst/>
          </a:prstGeom>
        </p:spPr>
        <p:txBody>
          <a:bodyPr anchor="t"/>
          <a:lstStyle>
            <a:lvl1pPr defTabSz="832104">
              <a:defRPr sz="2366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Delivery of ERTMS (trackside) in SEUs for the wider area</a:t>
            </a:r>
          </a:p>
        </p:txBody>
      </p:sp>
      <p:grpSp>
        <p:nvGrpSpPr>
          <p:cNvPr id="136" name="Group 136"/>
          <p:cNvGrpSpPr/>
          <p:nvPr/>
        </p:nvGrpSpPr>
        <p:grpSpPr>
          <a:xfrm>
            <a:off x="7898736" y="190500"/>
            <a:ext cx="1071303" cy="423863"/>
            <a:chOff x="0" y="0"/>
            <a:chExt cx="1071301" cy="423862"/>
          </a:xfrm>
        </p:grpSpPr>
        <p:sp>
          <p:nvSpPr>
            <p:cNvPr id="134" name="Shape 134"/>
            <p:cNvSpPr/>
            <p:nvPr/>
          </p:nvSpPr>
          <p:spPr>
            <a:xfrm>
              <a:off x="3838" y="0"/>
              <a:ext cx="1063626" cy="423863"/>
            </a:xfrm>
            <a:prstGeom prst="rect">
              <a:avLst/>
            </a:prstGeom>
            <a:solidFill>
              <a:srgbClr val="00808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pPr>
            </a:p>
          </p:txBody>
        </p:sp>
        <p:sp>
          <p:nvSpPr>
            <p:cNvPr id="135" name="Shape 135"/>
            <p:cNvSpPr/>
            <p:nvPr/>
          </p:nvSpPr>
          <p:spPr>
            <a:xfrm>
              <a:off x="0" y="155"/>
              <a:ext cx="1071302" cy="423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6799" tIns="46799" rIns="46799" bIns="4679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lvl1pPr>
            </a:lstStyle>
            <a:p>
              <a:pPr/>
              <a:r>
                <a:t>GWML</a:t>
              </a: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3800475" y="165100"/>
            <a:ext cx="1939925" cy="423863"/>
            <a:chOff x="0" y="0"/>
            <a:chExt cx="1939925" cy="423862"/>
          </a:xfrm>
        </p:grpSpPr>
        <p:sp>
          <p:nvSpPr>
            <p:cNvPr id="137" name="Shape 137"/>
            <p:cNvSpPr/>
            <p:nvPr/>
          </p:nvSpPr>
          <p:spPr>
            <a:xfrm>
              <a:off x="0" y="0"/>
              <a:ext cx="1939925" cy="423863"/>
            </a:xfrm>
            <a:prstGeom prst="rect">
              <a:avLst/>
            </a:prstGeom>
            <a:solidFill>
              <a:srgbClr val="00808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pPr>
            </a:p>
          </p:txBody>
        </p:sp>
        <p:sp>
          <p:nvSpPr>
            <p:cNvPr id="138" name="Shape 138"/>
            <p:cNvSpPr/>
            <p:nvPr/>
          </p:nvSpPr>
          <p:spPr>
            <a:xfrm>
              <a:off x="417866" y="155"/>
              <a:ext cx="1104193" cy="423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6799" tIns="46799" rIns="46799" bIns="4679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lvl1pPr>
            </a:lstStyle>
            <a:p>
              <a:pPr/>
              <a:r>
                <a:t>ERTMS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 p14:dur="100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/>
          <p:nvPr/>
        </p:nvSpPr>
        <p:spPr>
          <a:xfrm>
            <a:off x="3124200" y="6019800"/>
            <a:ext cx="297180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457200" indent="-457200" algn="ctr">
              <a:defRPr sz="1400"/>
            </a:lvl1pPr>
          </a:lstStyle>
          <a:p>
            <a:pPr/>
            <a:r>
              <a:t>Slide 15</a:t>
            </a:r>
          </a:p>
        </p:txBody>
      </p:sp>
      <p:sp>
        <p:nvSpPr>
          <p:cNvPr id="142" name="Shape 142"/>
          <p:cNvSpPr/>
          <p:nvPr>
            <p:ph type="title"/>
          </p:nvPr>
        </p:nvSpPr>
        <p:spPr>
          <a:xfrm>
            <a:off x="684212" y="663575"/>
            <a:ext cx="4827588" cy="927100"/>
          </a:xfrm>
          <a:prstGeom prst="rect">
            <a:avLst/>
          </a:prstGeom>
        </p:spPr>
        <p:txBody>
          <a:bodyPr anchor="t"/>
          <a:lstStyle>
            <a:lvl1pPr algn="l">
              <a:defRPr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Implementation Plan – Train Fitment (reduced freight)</a:t>
            </a:r>
          </a:p>
        </p:txBody>
      </p:sp>
      <p:grpSp>
        <p:nvGrpSpPr>
          <p:cNvPr id="145" name="Group 145"/>
          <p:cNvGrpSpPr/>
          <p:nvPr/>
        </p:nvGrpSpPr>
        <p:grpSpPr>
          <a:xfrm>
            <a:off x="7898736" y="190500"/>
            <a:ext cx="1071303" cy="423863"/>
            <a:chOff x="0" y="0"/>
            <a:chExt cx="1071301" cy="423862"/>
          </a:xfrm>
        </p:grpSpPr>
        <p:sp>
          <p:nvSpPr>
            <p:cNvPr id="143" name="Shape 143"/>
            <p:cNvSpPr/>
            <p:nvPr/>
          </p:nvSpPr>
          <p:spPr>
            <a:xfrm>
              <a:off x="3838" y="0"/>
              <a:ext cx="1063626" cy="423863"/>
            </a:xfrm>
            <a:prstGeom prst="rect">
              <a:avLst/>
            </a:prstGeom>
            <a:solidFill>
              <a:srgbClr val="00808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pPr>
            </a:p>
          </p:txBody>
        </p:sp>
        <p:sp>
          <p:nvSpPr>
            <p:cNvPr id="144" name="Shape 144"/>
            <p:cNvSpPr/>
            <p:nvPr/>
          </p:nvSpPr>
          <p:spPr>
            <a:xfrm>
              <a:off x="0" y="155"/>
              <a:ext cx="1071302" cy="423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6799" tIns="46799" rIns="46799" bIns="4679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lvl1pPr>
            </a:lstStyle>
            <a:p>
              <a:pPr/>
              <a:r>
                <a:t>GWML</a:t>
              </a:r>
            </a:p>
          </p:txBody>
        </p:sp>
      </p:grpSp>
      <p:pic>
        <p:nvPicPr>
          <p:cNvPr id="146" name="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2450" y="1682750"/>
            <a:ext cx="7507288" cy="461327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9" name="Group 149"/>
          <p:cNvGrpSpPr/>
          <p:nvPr/>
        </p:nvGrpSpPr>
        <p:grpSpPr>
          <a:xfrm>
            <a:off x="3341687" y="234950"/>
            <a:ext cx="1939926" cy="423863"/>
            <a:chOff x="0" y="0"/>
            <a:chExt cx="1939925" cy="423862"/>
          </a:xfrm>
        </p:grpSpPr>
        <p:sp>
          <p:nvSpPr>
            <p:cNvPr id="147" name="Shape 147"/>
            <p:cNvSpPr/>
            <p:nvPr/>
          </p:nvSpPr>
          <p:spPr>
            <a:xfrm>
              <a:off x="0" y="0"/>
              <a:ext cx="1939925" cy="423863"/>
            </a:xfrm>
            <a:prstGeom prst="rect">
              <a:avLst/>
            </a:prstGeom>
            <a:solidFill>
              <a:srgbClr val="00808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pPr>
            </a:p>
          </p:txBody>
        </p:sp>
        <p:sp>
          <p:nvSpPr>
            <p:cNvPr id="148" name="Shape 148"/>
            <p:cNvSpPr/>
            <p:nvPr/>
          </p:nvSpPr>
          <p:spPr>
            <a:xfrm>
              <a:off x="417866" y="155"/>
              <a:ext cx="1104193" cy="423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6799" tIns="46799" rIns="46799" bIns="4679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lvl1pPr>
            </a:lstStyle>
            <a:p>
              <a:pPr/>
              <a:r>
                <a:t>ERTMS</a:t>
              </a:r>
            </a:p>
          </p:txBody>
        </p:sp>
      </p:grpSp>
      <p:pic>
        <p:nvPicPr>
          <p:cNvPr id="150" name="image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432425" y="827087"/>
            <a:ext cx="3054350" cy="660401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/>
          <p:nvPr/>
        </p:nvSpPr>
        <p:spPr>
          <a:xfrm>
            <a:off x="3124200" y="6019800"/>
            <a:ext cx="297180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457200" indent="-457200" algn="ctr">
              <a:defRPr sz="1400"/>
            </a:lvl1pPr>
          </a:lstStyle>
          <a:p>
            <a:pPr/>
            <a:r>
              <a:t>Slide 16</a:t>
            </a:r>
          </a:p>
        </p:txBody>
      </p:sp>
      <p:sp>
        <p:nvSpPr>
          <p:cNvPr id="153" name="Shape 153"/>
          <p:cNvSpPr/>
          <p:nvPr>
            <p:ph type="title"/>
          </p:nvPr>
        </p:nvSpPr>
        <p:spPr>
          <a:xfrm>
            <a:off x="355600" y="206375"/>
            <a:ext cx="7773988" cy="882650"/>
          </a:xfrm>
          <a:prstGeom prst="rect">
            <a:avLst/>
          </a:prstGeom>
        </p:spPr>
        <p:txBody>
          <a:bodyPr anchor="t"/>
          <a:lstStyle>
            <a:lvl1pPr algn="l">
              <a:defRPr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discounted, not risked cost position (excluding benefits) breaks even by 2029</a:t>
            </a:r>
          </a:p>
        </p:txBody>
      </p:sp>
      <p:sp>
        <p:nvSpPr>
          <p:cNvPr id="154" name="Shape 154"/>
          <p:cNvSpPr/>
          <p:nvPr/>
        </p:nvSpPr>
        <p:spPr>
          <a:xfrm>
            <a:off x="3608765" y="1665287"/>
            <a:ext cx="136608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b="1" sz="1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Reduced freight</a:t>
            </a:r>
          </a:p>
        </p:txBody>
      </p:sp>
      <p:pic>
        <p:nvPicPr>
          <p:cNvPr id="155" name="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0987" y="1185862"/>
            <a:ext cx="8526463" cy="5243513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Shape 156"/>
          <p:cNvSpPr/>
          <p:nvPr/>
        </p:nvSpPr>
        <p:spPr>
          <a:xfrm rot="19667201">
            <a:off x="3495675" y="2532062"/>
            <a:ext cx="1485900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 defTabSz="557784">
              <a:defRPr sz="4270">
                <a:ln w="3544">
                  <a:solidFill>
                    <a:srgbClr val="000000"/>
                  </a:solidFill>
                </a:ln>
                <a:solidFill>
                  <a:srgbClr val="B2B2B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Draft</a:t>
            </a:r>
          </a:p>
        </p:txBody>
      </p:sp>
      <p:grpSp>
        <p:nvGrpSpPr>
          <p:cNvPr id="159" name="Group 159"/>
          <p:cNvGrpSpPr/>
          <p:nvPr/>
        </p:nvGrpSpPr>
        <p:grpSpPr>
          <a:xfrm>
            <a:off x="7898736" y="190500"/>
            <a:ext cx="1071303" cy="423863"/>
            <a:chOff x="0" y="0"/>
            <a:chExt cx="1071301" cy="423862"/>
          </a:xfrm>
        </p:grpSpPr>
        <p:sp>
          <p:nvSpPr>
            <p:cNvPr id="157" name="Shape 157"/>
            <p:cNvSpPr/>
            <p:nvPr/>
          </p:nvSpPr>
          <p:spPr>
            <a:xfrm>
              <a:off x="3838" y="0"/>
              <a:ext cx="1063626" cy="423863"/>
            </a:xfrm>
            <a:prstGeom prst="rect">
              <a:avLst/>
            </a:prstGeom>
            <a:solidFill>
              <a:srgbClr val="00808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pPr>
            </a:p>
          </p:txBody>
        </p:sp>
        <p:sp>
          <p:nvSpPr>
            <p:cNvPr id="158" name="Shape 158"/>
            <p:cNvSpPr/>
            <p:nvPr/>
          </p:nvSpPr>
          <p:spPr>
            <a:xfrm>
              <a:off x="0" y="155"/>
              <a:ext cx="1071302" cy="423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6799" tIns="46799" rIns="46799" bIns="4679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Times New Roman"/>
                </a:defRPr>
              </a:lvl1pPr>
            </a:lstStyle>
            <a:p>
              <a:pPr/>
              <a:r>
                <a:t>GWML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 p14:dur="1000"/>
</p:sld>
</file>

<file path=ppt/theme/theme1.xml><?xml version="1.0" encoding="utf-8"?>
<a:theme xmlns:a="http://schemas.openxmlformats.org/drawingml/2006/main" xmlns:r="http://schemas.openxmlformats.org/officeDocument/2006/relationships" name="NRTemplatev2.0">
  <a:themeElements>
    <a:clrScheme name="NRTemplatev2.0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CC99"/>
      </a:accent1>
      <a:accent2>
        <a:srgbClr val="3333C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NRTemplatev2.0">
      <a:majorFont>
        <a:latin typeface="Times New Roman"/>
        <a:ea typeface="Times New Roman"/>
        <a:cs typeface="Times New Roman"/>
      </a:majorFont>
      <a:minorFont>
        <a:latin typeface="Helvetica"/>
        <a:ea typeface="Helvetica"/>
        <a:cs typeface="Helvetica"/>
      </a:minorFont>
    </a:fontScheme>
    <a:fmtScheme name="NRTemplatev2.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6799" tIns="46799" rIns="46799" bIns="4679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6799" tIns="46799" rIns="46799" bIns="4679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NRTemplatev2.0">
  <a:themeElements>
    <a:clrScheme name="NRTemplatev2.0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CC99"/>
      </a:accent1>
      <a:accent2>
        <a:srgbClr val="3333C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NRTemplatev2.0">
      <a:majorFont>
        <a:latin typeface="Times New Roman"/>
        <a:ea typeface="Times New Roman"/>
        <a:cs typeface="Times New Roman"/>
      </a:majorFont>
      <a:minorFont>
        <a:latin typeface="Helvetica"/>
        <a:ea typeface="Helvetica"/>
        <a:cs typeface="Helvetica"/>
      </a:minorFont>
    </a:fontScheme>
    <a:fmtScheme name="NRTemplatev2.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6799" tIns="46799" rIns="46799" bIns="4679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6799" tIns="46799" rIns="46799" bIns="4679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